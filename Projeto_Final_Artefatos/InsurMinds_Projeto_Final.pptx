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6256000" cy="9144000"/>
  <p:notesSz cx="9144000" cy="16256000"/>
  <p:embeddedFontLst>
    <p:embeddedFont>
      <p:font typeface="Inter" charset="-122" pitchFamily="34"/>
      <p:regular r:id="rId17"/>
    </p:embeddedFont>
    <p:embeddedFont>
      <p:font typeface="Space Grotesk" charset="-122" pitchFamily="34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grid-v1"/>
          <p:cNvSpPr/>
          <p:nvPr/>
        </p:nvSpPr>
        <p:spPr>
          <a:xfrm>
            <a:off x="11430000" y="0"/>
            <a:ext cx="9144" cy="9144000"/>
          </a:xfrm>
          <a:prstGeom prst="line">
            <a:avLst/>
          </a:prstGeom>
          <a:ln w="12700">
            <a:solidFill>
              <a:srgbClr val="3A506B">
                <a:alpha val="35000"/>
              </a:srgbClr>
            </a:solidFill>
            <a:prstDash val="solid"/>
          </a:ln>
        </p:spPr>
      </p:sp>
      <p:sp>
        <p:nvSpPr>
          <p:cNvPr id="3" name="cover-grid-v2"/>
          <p:cNvSpPr/>
          <p:nvPr/>
        </p:nvSpPr>
        <p:spPr>
          <a:xfrm>
            <a:off x="13208000" y="0"/>
            <a:ext cx="9144" cy="9144000"/>
          </a:xfrm>
          <a:prstGeom prst="line">
            <a:avLst/>
          </a:prstGeom>
          <a:ln w="12700">
            <a:solidFill>
              <a:srgbClr val="3A506B">
                <a:alpha val="22000"/>
              </a:srgbClr>
            </a:solidFill>
            <a:prstDash val="solid"/>
          </a:ln>
        </p:spPr>
      </p:sp>
      <p:sp>
        <p:nvSpPr>
          <p:cNvPr id="4" name="cover-grid-h1"/>
          <p:cNvSpPr/>
          <p:nvPr/>
        </p:nvSpPr>
        <p:spPr>
          <a:xfrm>
            <a:off x="10414000" y="1905000"/>
            <a:ext cx="5080000" cy="9144"/>
          </a:xfrm>
          <a:prstGeom prst="line">
            <a:avLst/>
          </a:prstGeom>
          <a:ln w="12700">
            <a:solidFill>
              <a:srgbClr val="3A506B">
                <a:alpha val="35000"/>
              </a:srgbClr>
            </a:solidFill>
            <a:prstDash val="solid"/>
          </a:ln>
        </p:spPr>
      </p:sp>
      <p:sp>
        <p:nvSpPr>
          <p:cNvPr id="5" name="cover-grid-h2"/>
          <p:cNvSpPr/>
          <p:nvPr/>
        </p:nvSpPr>
        <p:spPr>
          <a:xfrm>
            <a:off x="10414000" y="4572000"/>
            <a:ext cx="5080000" cy="9144"/>
          </a:xfrm>
          <a:prstGeom prst="line">
            <a:avLst/>
          </a:prstGeom>
          <a:ln w="12700">
            <a:solidFill>
              <a:srgbClr val="3A506B">
                <a:alpha val="35000"/>
              </a:srgbClr>
            </a:solidFill>
            <a:prstDash val="solid"/>
          </a:ln>
        </p:spPr>
      </p:sp>
      <p:sp>
        <p:nvSpPr>
          <p:cNvPr id="6" name="cover-title-line"/>
          <p:cNvSpPr/>
          <p:nvPr/>
        </p:nvSpPr>
        <p:spPr>
          <a:xfrm>
            <a:off x="889000" y="2159000"/>
            <a:ext cx="2159000" cy="9144"/>
          </a:xfrm>
          <a:prstGeom prst="line">
            <a:avLst/>
          </a:prstGeom>
          <a:ln w="50800">
            <a:solidFill>
              <a:srgbClr val="FFB703"/>
            </a:solidFill>
            <a:prstDash val="solid"/>
          </a:ln>
        </p:spPr>
      </p:sp>
      <p:sp>
        <p:nvSpPr>
          <p:cNvPr id="7" name="cover-kicker"/>
          <p:cNvSpPr/>
          <p:nvPr/>
        </p:nvSpPr>
        <p:spPr>
          <a:xfrm>
            <a:off x="889000" y="1371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FINAL · INSURMINDS</a:t>
            </a:r>
            <a:endParaRPr lang="en-US" sz="1600" dirty="0"/>
          </a:p>
        </p:txBody>
      </p:sp>
      <p:sp>
        <p:nvSpPr>
          <p:cNvPr id="8" name="cover-title"/>
          <p:cNvSpPr/>
          <p:nvPr/>
        </p:nvSpPr>
        <p:spPr>
          <a:xfrm>
            <a:off x="889000" y="2603500"/>
            <a:ext cx="9652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58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D&amp;O Policy Intelligence</a:t>
            </a:r>
            <a:endParaRPr lang="en-US" sz="5800" dirty="0"/>
          </a:p>
        </p:txBody>
      </p:sp>
      <p:sp>
        <p:nvSpPr>
          <p:cNvPr id="9" name="cover-subtitle"/>
          <p:cNvSpPr/>
          <p:nvPr/>
        </p:nvSpPr>
        <p:spPr>
          <a:xfrm>
            <a:off x="939800" y="4699000"/>
            <a:ext cx="838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e comparação explicável de apólices D&amp;O.</a:t>
            </a:r>
            <a:endParaRPr lang="en-US" sz="2500" dirty="0"/>
          </a:p>
        </p:txBody>
      </p:sp>
      <p:sp>
        <p:nvSpPr>
          <p:cNvPr id="10" name="cover-date"/>
          <p:cNvSpPr/>
          <p:nvPr/>
        </p:nvSpPr>
        <p:spPr>
          <a:xfrm>
            <a:off x="939800" y="58166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B7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FUNCIONAL · 19 AGO 2026</a:t>
            </a:r>
            <a:endParaRPr lang="en-US" sz="1600" dirty="0"/>
          </a:p>
        </p:txBody>
      </p:sp>
      <p:sp>
        <p:nvSpPr>
          <p:cNvPr id="11" name="cover-node-a"/>
          <p:cNvSpPr/>
          <p:nvPr/>
        </p:nvSpPr>
        <p:spPr>
          <a:xfrm>
            <a:off x="10414000" y="5969000"/>
            <a:ext cx="1397000" cy="8128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2" name="cover-node-b"/>
          <p:cNvSpPr/>
          <p:nvPr/>
        </p:nvSpPr>
        <p:spPr>
          <a:xfrm>
            <a:off x="12344400" y="5969000"/>
            <a:ext cx="1397000" cy="8128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3" name="cover-node-c"/>
          <p:cNvSpPr/>
          <p:nvPr/>
        </p:nvSpPr>
        <p:spPr>
          <a:xfrm>
            <a:off x="14274800" y="5969000"/>
            <a:ext cx="1397000" cy="8128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4" name="cover-node-a-text"/>
          <p:cNvSpPr/>
          <p:nvPr/>
        </p:nvSpPr>
        <p:spPr>
          <a:xfrm>
            <a:off x="10414000" y="5969000"/>
            <a:ext cx="1397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</a:t>
            </a:r>
            <a:endParaRPr lang="en-US" sz="1500" dirty="0"/>
          </a:p>
        </p:txBody>
      </p:sp>
      <p:sp>
        <p:nvSpPr>
          <p:cNvPr id="15" name="cover-node-b-text"/>
          <p:cNvSpPr/>
          <p:nvPr/>
        </p:nvSpPr>
        <p:spPr>
          <a:xfrm>
            <a:off x="12344400" y="5969000"/>
            <a:ext cx="1397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</a:t>
            </a:r>
            <a:endParaRPr lang="en-US" sz="1500" dirty="0"/>
          </a:p>
        </p:txBody>
      </p:sp>
      <p:sp>
        <p:nvSpPr>
          <p:cNvPr id="16" name="cover-node-c-text"/>
          <p:cNvSpPr/>
          <p:nvPr/>
        </p:nvSpPr>
        <p:spPr>
          <a:xfrm>
            <a:off x="14274800" y="5969000"/>
            <a:ext cx="1397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dirty="0">
                <a:solidFill>
                  <a:srgbClr val="0B1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</a:t>
            </a:r>
            <a:endParaRPr lang="en-US" sz="1500" dirty="0"/>
          </a:p>
        </p:txBody>
      </p:sp>
      <p:sp>
        <p:nvSpPr>
          <p:cNvPr id="17" name="cover-arrow-a"/>
          <p:cNvSpPr/>
          <p:nvPr/>
        </p:nvSpPr>
        <p:spPr>
          <a:xfrm>
            <a:off x="11811000" y="6375400"/>
            <a:ext cx="533400" cy="9144"/>
          </a:xfrm>
          <a:prstGeom prst="line">
            <a:avLst/>
          </a:prstGeom>
          <a:ln w="25400">
            <a:solidFill>
              <a:srgbClr val="FFB703"/>
            </a:solidFill>
            <a:prstDash val="solid"/>
            <a:tailEnd type="triangle"/>
          </a:ln>
        </p:spPr>
      </p:sp>
      <p:sp>
        <p:nvSpPr>
          <p:cNvPr id="18" name="cover-arrow-b"/>
          <p:cNvSpPr/>
          <p:nvPr/>
        </p:nvSpPr>
        <p:spPr>
          <a:xfrm>
            <a:off x="13741400" y="6375400"/>
            <a:ext cx="533400" cy="9144"/>
          </a:xfrm>
          <a:prstGeom prst="line">
            <a:avLst/>
          </a:prstGeom>
          <a:ln w="25400">
            <a:solidFill>
              <a:srgbClr val="FFB703"/>
            </a:solidFill>
            <a:prstDash val="solid"/>
            <a:tailEnd type="triangle"/>
          </a:ln>
        </p:spPr>
      </p:sp>
      <p:sp>
        <p:nvSpPr>
          <p:cNvPr id="19" name="cover-footer-page"/>
          <p:cNvSpPr/>
          <p:nvPr/>
        </p:nvSpPr>
        <p:spPr>
          <a:xfrm>
            <a:off x="889000" y="86614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20" name="cover-footer-tag"/>
          <p:cNvSpPr/>
          <p:nvPr/>
        </p:nvSpPr>
        <p:spPr>
          <a:xfrm>
            <a:off x="13716000" y="86614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INSURMINDS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lem-title-line"/>
          <p:cNvSpPr/>
          <p:nvPr/>
        </p:nvSpPr>
        <p:spPr>
          <a:xfrm>
            <a:off x="762000" y="533400"/>
            <a:ext cx="1905000" cy="9144"/>
          </a:xfrm>
          <a:prstGeom prst="line">
            <a:avLst/>
          </a:prstGeom>
          <a:ln w="50800">
            <a:solidFill>
              <a:srgbClr val="FFB703"/>
            </a:solidFill>
            <a:prstDash val="solid"/>
          </a:ln>
        </p:spPr>
      </p:sp>
      <p:sp>
        <p:nvSpPr>
          <p:cNvPr id="3" name="problem-title"/>
          <p:cNvSpPr/>
          <p:nvPr/>
        </p:nvSpPr>
        <p:spPr>
          <a:xfrm>
            <a:off x="762000" y="736600"/>
            <a:ext cx="9144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problema</a:t>
            </a:r>
            <a:endParaRPr lang="en-US" sz="3400" dirty="0"/>
          </a:p>
        </p:txBody>
      </p:sp>
      <p:sp>
        <p:nvSpPr>
          <p:cNvPr id="4" name="problem-lead"/>
          <p:cNvSpPr/>
          <p:nvPr/>
        </p:nvSpPr>
        <p:spPr>
          <a:xfrm>
            <a:off x="762000" y="19050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Apólices D&amp;O são extensas, jurídicas e difíceis de comparar manualmente.</a:t>
            </a:r>
            <a:endParaRPr lang="en-US" sz="2500" dirty="0"/>
          </a:p>
        </p:txBody>
      </p:sp>
      <p:sp>
        <p:nvSpPr>
          <p:cNvPr id="5" name="problem-copy"/>
          <p:cNvSpPr/>
          <p:nvPr/>
        </p:nvSpPr>
        <p:spPr>
          <a:xfrm>
            <a:off x="762000" y="40005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especialista precisa localizar limites, franquias, coberturas, exclusões e condições em documentos com estruturas diferentes.</a:t>
            </a:r>
            <a:endParaRPr lang="en-US" sz="1900" dirty="0"/>
          </a:p>
        </p:txBody>
      </p:sp>
      <p:sp>
        <p:nvSpPr>
          <p:cNvPr id="6" name="problem-callout"/>
          <p:cNvSpPr/>
          <p:nvPr/>
        </p:nvSpPr>
        <p:spPr>
          <a:xfrm>
            <a:off x="762000" y="6540500"/>
            <a:ext cx="6350000" cy="1041400"/>
          </a:xfrm>
          <a:prstGeom prst="rect">
            <a:avLst/>
          </a:prstGeom>
          <a:solidFill>
            <a:srgbClr val="1C2541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7" name="problem-callout-value"/>
          <p:cNvSpPr/>
          <p:nvPr/>
        </p:nvSpPr>
        <p:spPr>
          <a:xfrm>
            <a:off x="1041400" y="6756400"/>
            <a:ext cx="1397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B70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HORAS</a:t>
            </a:r>
            <a:endParaRPr lang="en-US" sz="3400" dirty="0"/>
          </a:p>
        </p:txBody>
      </p:sp>
      <p:sp>
        <p:nvSpPr>
          <p:cNvPr id="8" name="problem-callout-label"/>
          <p:cNvSpPr/>
          <p:nvPr/>
        </p:nvSpPr>
        <p:spPr>
          <a:xfrm>
            <a:off x="2794000" y="6819900"/>
            <a:ext cx="3810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leitura mecânica antes da análise de negócio.</a:t>
            </a:r>
            <a:endParaRPr lang="en-US" sz="1900" dirty="0"/>
          </a:p>
        </p:txBody>
      </p:sp>
      <p:sp>
        <p:nvSpPr>
          <p:cNvPr id="9" name="problem-document"/>
          <p:cNvSpPr/>
          <p:nvPr/>
        </p:nvSpPr>
        <p:spPr>
          <a:xfrm>
            <a:off x="8890000" y="1714500"/>
            <a:ext cx="3937000" cy="4953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0" name="problem-document-head"/>
          <p:cNvSpPr/>
          <p:nvPr/>
        </p:nvSpPr>
        <p:spPr>
          <a:xfrm>
            <a:off x="8890000" y="1714500"/>
            <a:ext cx="3937000" cy="736600"/>
          </a:xfrm>
          <a:prstGeom prst="rect">
            <a:avLst/>
          </a:prstGeom>
          <a:solidFill>
            <a:srgbClr val="263452"/>
          </a:solidFill>
          <a:ln/>
        </p:spPr>
      </p:sp>
      <p:sp>
        <p:nvSpPr>
          <p:cNvPr id="11" name="problem-document-title"/>
          <p:cNvSpPr/>
          <p:nvPr/>
        </p:nvSpPr>
        <p:spPr>
          <a:xfrm>
            <a:off x="9220200" y="19177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CONDIÇÕES GERAIS · D&amp;O</a:t>
            </a:r>
            <a:endParaRPr lang="en-US" sz="1500" dirty="0"/>
          </a:p>
        </p:txBody>
      </p:sp>
      <p:sp>
        <p:nvSpPr>
          <p:cNvPr id="12" name="problem-document-page"/>
          <p:cNvSpPr/>
          <p:nvPr/>
        </p:nvSpPr>
        <p:spPr>
          <a:xfrm>
            <a:off x="11684000" y="1917700"/>
            <a:ext cx="81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28</a:t>
            </a:r>
            <a:endParaRPr lang="en-US" sz="1400" dirty="0"/>
          </a:p>
        </p:txBody>
      </p:sp>
      <p:sp>
        <p:nvSpPr>
          <p:cNvPr id="13" name="problem-line-1"/>
          <p:cNvSpPr/>
          <p:nvPr/>
        </p:nvSpPr>
        <p:spPr>
          <a:xfrm>
            <a:off x="9271000" y="2895600"/>
            <a:ext cx="2794000" cy="9144"/>
          </a:xfrm>
          <a:prstGeom prst="line">
            <a:avLst/>
          </a:prstGeom>
          <a:ln w="38100">
            <a:solidFill>
              <a:srgbClr val="A0C4FF">
                <a:alpha val="65000"/>
              </a:srgbClr>
            </a:solidFill>
            <a:prstDash val="solid"/>
          </a:ln>
        </p:spPr>
      </p:sp>
      <p:sp>
        <p:nvSpPr>
          <p:cNvPr id="14" name="problem-line-2"/>
          <p:cNvSpPr/>
          <p:nvPr/>
        </p:nvSpPr>
        <p:spPr>
          <a:xfrm>
            <a:off x="9271000" y="3302000"/>
            <a:ext cx="3111500" cy="9144"/>
          </a:xfrm>
          <a:prstGeom prst="line">
            <a:avLst/>
          </a:prstGeom>
          <a:ln w="3810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5" name="problem-line-3"/>
          <p:cNvSpPr/>
          <p:nvPr/>
        </p:nvSpPr>
        <p:spPr>
          <a:xfrm>
            <a:off x="9271000" y="3708400"/>
            <a:ext cx="2603500" cy="9144"/>
          </a:xfrm>
          <a:prstGeom prst="line">
            <a:avLst/>
          </a:prstGeom>
          <a:ln w="3810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6" name="problem-line-4"/>
          <p:cNvSpPr/>
          <p:nvPr/>
        </p:nvSpPr>
        <p:spPr>
          <a:xfrm>
            <a:off x="9271000" y="4114800"/>
            <a:ext cx="2921000" cy="9144"/>
          </a:xfrm>
          <a:prstGeom prst="line">
            <a:avLst/>
          </a:prstGeom>
          <a:ln w="3810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7" name="problem-line-5"/>
          <p:cNvSpPr/>
          <p:nvPr/>
        </p:nvSpPr>
        <p:spPr>
          <a:xfrm>
            <a:off x="9271000" y="4521200"/>
            <a:ext cx="2159000" cy="9144"/>
          </a:xfrm>
          <a:prstGeom prst="line">
            <a:avLst/>
          </a:prstGeom>
          <a:ln w="3810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8" name="problem-line-6"/>
          <p:cNvSpPr/>
          <p:nvPr/>
        </p:nvSpPr>
        <p:spPr>
          <a:xfrm>
            <a:off x="9271000" y="5334000"/>
            <a:ext cx="3022600" cy="9144"/>
          </a:xfrm>
          <a:prstGeom prst="line">
            <a:avLst/>
          </a:prstGeom>
          <a:ln w="3810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9" name="problem-line-7"/>
          <p:cNvSpPr/>
          <p:nvPr/>
        </p:nvSpPr>
        <p:spPr>
          <a:xfrm>
            <a:off x="9271000" y="5740400"/>
            <a:ext cx="2540000" cy="9144"/>
          </a:xfrm>
          <a:prstGeom prst="line">
            <a:avLst/>
          </a:prstGeom>
          <a:ln w="3810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20" name="problem-table"/>
          <p:cNvSpPr/>
          <p:nvPr/>
        </p:nvSpPr>
        <p:spPr>
          <a:xfrm>
            <a:off x="11963400" y="3479800"/>
            <a:ext cx="3530600" cy="2476500"/>
          </a:xfrm>
          <a:prstGeom prst="rect">
            <a:avLst/>
          </a:prstGeom>
          <a:solidFill>
            <a:srgbClr val="0F1B37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21" name="problem-table-head"/>
          <p:cNvSpPr/>
          <p:nvPr/>
        </p:nvSpPr>
        <p:spPr>
          <a:xfrm>
            <a:off x="12217400" y="37084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B7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COMPARAÇÃO MANUAL</a:t>
            </a:r>
            <a:endParaRPr lang="en-US" sz="1400" dirty="0"/>
          </a:p>
        </p:txBody>
      </p:sp>
      <p:sp>
        <p:nvSpPr>
          <p:cNvPr id="22" name="problem-table-row1"/>
          <p:cNvSpPr/>
          <p:nvPr/>
        </p:nvSpPr>
        <p:spPr>
          <a:xfrm>
            <a:off x="12217400" y="42545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limites             ? / ?</a:t>
            </a:r>
            <a:endParaRPr lang="en-US" sz="1400" dirty="0"/>
          </a:p>
        </p:txBody>
      </p:sp>
      <p:sp>
        <p:nvSpPr>
          <p:cNvPr id="23" name="problem-table-row2"/>
          <p:cNvSpPr/>
          <p:nvPr/>
        </p:nvSpPr>
        <p:spPr>
          <a:xfrm>
            <a:off x="12217400" y="47244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franquias           ? / ?</a:t>
            </a:r>
            <a:endParaRPr lang="en-US" sz="1400" dirty="0"/>
          </a:p>
        </p:txBody>
      </p:sp>
      <p:sp>
        <p:nvSpPr>
          <p:cNvPr id="24" name="problem-table-row3"/>
          <p:cNvSpPr/>
          <p:nvPr/>
        </p:nvSpPr>
        <p:spPr>
          <a:xfrm>
            <a:off x="12217400" y="51943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exclusões          ? / ?</a:t>
            </a:r>
            <a:endParaRPr lang="en-US" sz="1400" dirty="0"/>
          </a:p>
        </p:txBody>
      </p:sp>
      <p:sp>
        <p:nvSpPr>
          <p:cNvPr id="25" name="problem-table-divider"/>
          <p:cNvSpPr/>
          <p:nvPr/>
        </p:nvSpPr>
        <p:spPr>
          <a:xfrm>
            <a:off x="12217400" y="5524500"/>
            <a:ext cx="2844800" cy="9144"/>
          </a:xfrm>
          <a:prstGeom prst="line">
            <a:avLst/>
          </a:prstGeom>
          <a:ln w="12700">
            <a:solidFill>
              <a:srgbClr val="3A506B"/>
            </a:solidFill>
            <a:prstDash val="solid"/>
          </a:ln>
        </p:spPr>
      </p:sp>
      <p:sp>
        <p:nvSpPr>
          <p:cNvPr id="26" name="problem-table-foot"/>
          <p:cNvSpPr/>
          <p:nvPr/>
        </p:nvSpPr>
        <p:spPr>
          <a:xfrm>
            <a:off x="12217400" y="5664200"/>
            <a:ext cx="279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informação sem evidência</a:t>
            </a:r>
            <a:endParaRPr lang="en-US" sz="1300" dirty="0"/>
          </a:p>
        </p:txBody>
      </p:sp>
      <p:sp>
        <p:nvSpPr>
          <p:cNvPr id="27" name="problem-footer-page"/>
          <p:cNvSpPr/>
          <p:nvPr/>
        </p:nvSpPr>
        <p:spPr>
          <a:xfrm>
            <a:off x="762000" y="86614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28" name="problem-footer-tag"/>
          <p:cNvSpPr/>
          <p:nvPr/>
        </p:nvSpPr>
        <p:spPr>
          <a:xfrm>
            <a:off x="13716000" y="86614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INSURMINDS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posal-title-line"/>
          <p:cNvSpPr/>
          <p:nvPr/>
        </p:nvSpPr>
        <p:spPr>
          <a:xfrm>
            <a:off x="762000" y="533400"/>
            <a:ext cx="1905000" cy="9144"/>
          </a:xfrm>
          <a:prstGeom prst="line">
            <a:avLst/>
          </a:prstGeom>
          <a:ln w="50800">
            <a:solidFill>
              <a:srgbClr val="FFB703"/>
            </a:solidFill>
            <a:prstDash val="solid"/>
          </a:ln>
        </p:spPr>
      </p:sp>
      <p:sp>
        <p:nvSpPr>
          <p:cNvPr id="3" name="proposal-title"/>
          <p:cNvSpPr/>
          <p:nvPr/>
        </p:nvSpPr>
        <p:spPr>
          <a:xfrm>
            <a:off x="762000" y="736600"/>
            <a:ext cx="9906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proposta</a:t>
            </a:r>
            <a:endParaRPr lang="en-US" sz="3400" dirty="0"/>
          </a:p>
        </p:txBody>
      </p:sp>
      <p:sp>
        <p:nvSpPr>
          <p:cNvPr id="4" name="proposal-lead"/>
          <p:cNvSpPr/>
          <p:nvPr/>
        </p:nvSpPr>
        <p:spPr>
          <a:xfrm>
            <a:off x="762000" y="1651000"/>
            <a:ext cx="1244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Transformar duas apólices em uma comparação rastreável — sem tirar o especialista do controle.</a:t>
            </a:r>
            <a:endParaRPr lang="en-US" sz="2200" dirty="0"/>
          </a:p>
        </p:txBody>
      </p:sp>
      <p:sp>
        <p:nvSpPr>
          <p:cNvPr id="5" name="proposal-card-a"/>
          <p:cNvSpPr/>
          <p:nvPr/>
        </p:nvSpPr>
        <p:spPr>
          <a:xfrm>
            <a:off x="762000" y="2921000"/>
            <a:ext cx="4191000" cy="3302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6" name="proposal-card-a-top"/>
          <p:cNvSpPr/>
          <p:nvPr/>
        </p:nvSpPr>
        <p:spPr>
          <a:xfrm>
            <a:off x="762000" y="2921000"/>
            <a:ext cx="4191000" cy="50800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7" name="proposal-icon-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3454400"/>
            <a:ext cx="508000" cy="508000"/>
          </a:xfrm>
          <a:prstGeom prst="rect">
            <a:avLst/>
          </a:prstGeom>
        </p:spPr>
      </p:pic>
      <p:sp>
        <p:nvSpPr>
          <p:cNvPr id="8" name="proposal-card-a-title"/>
          <p:cNvSpPr/>
          <p:nvPr/>
        </p:nvSpPr>
        <p:spPr>
          <a:xfrm>
            <a:off x="1117600" y="4254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Transformar</a:t>
            </a:r>
            <a:endParaRPr lang="en-US" sz="2400" dirty="0"/>
          </a:p>
        </p:txBody>
      </p:sp>
      <p:sp>
        <p:nvSpPr>
          <p:cNvPr id="9" name="proposal-card-a-body"/>
          <p:cNvSpPr/>
          <p:nvPr/>
        </p:nvSpPr>
        <p:spPr>
          <a:xfrm>
            <a:off x="1117600" y="4889500"/>
            <a:ext cx="3175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Extrair o conteúdo e convertê-lo em campos comparáveis.</a:t>
            </a:r>
            <a:endParaRPr lang="en-US" sz="1800" dirty="0"/>
          </a:p>
        </p:txBody>
      </p:sp>
      <p:sp>
        <p:nvSpPr>
          <p:cNvPr id="10" name="proposal-card-b"/>
          <p:cNvSpPr/>
          <p:nvPr/>
        </p:nvSpPr>
        <p:spPr>
          <a:xfrm>
            <a:off x="5778500" y="2921000"/>
            <a:ext cx="4191000" cy="3302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1" name="proposal-card-b-top"/>
          <p:cNvSpPr/>
          <p:nvPr/>
        </p:nvSpPr>
        <p:spPr>
          <a:xfrm>
            <a:off x="5778500" y="2921000"/>
            <a:ext cx="4191000" cy="50800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12" name="proposal-icon-b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100" y="3454400"/>
            <a:ext cx="508000" cy="508000"/>
          </a:xfrm>
          <a:prstGeom prst="rect">
            <a:avLst/>
          </a:prstGeom>
        </p:spPr>
      </p:pic>
      <p:sp>
        <p:nvSpPr>
          <p:cNvPr id="13" name="proposal-card-b-title"/>
          <p:cNvSpPr/>
          <p:nvPr/>
        </p:nvSpPr>
        <p:spPr>
          <a:xfrm>
            <a:off x="6134100" y="4254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Rastrear</a:t>
            </a:r>
            <a:endParaRPr lang="en-US" sz="2400" dirty="0"/>
          </a:p>
        </p:txBody>
      </p:sp>
      <p:sp>
        <p:nvSpPr>
          <p:cNvPr id="14" name="proposal-card-b-body"/>
          <p:cNvSpPr/>
          <p:nvPr/>
        </p:nvSpPr>
        <p:spPr>
          <a:xfrm>
            <a:off x="6134100" y="4889500"/>
            <a:ext cx="3175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Preservar página, trecho e confiança para revisão.</a:t>
            </a:r>
            <a:endParaRPr lang="en-US" sz="1800" dirty="0"/>
          </a:p>
        </p:txBody>
      </p:sp>
      <p:sp>
        <p:nvSpPr>
          <p:cNvPr id="15" name="proposal-card-c"/>
          <p:cNvSpPr/>
          <p:nvPr/>
        </p:nvSpPr>
        <p:spPr>
          <a:xfrm>
            <a:off x="10795000" y="2921000"/>
            <a:ext cx="4191000" cy="3302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6" name="proposal-card-c-top"/>
          <p:cNvSpPr/>
          <p:nvPr/>
        </p:nvSpPr>
        <p:spPr>
          <a:xfrm>
            <a:off x="10795000" y="2921000"/>
            <a:ext cx="4191000" cy="50800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17" name="proposal-icon-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0600" y="3454400"/>
            <a:ext cx="508000" cy="508000"/>
          </a:xfrm>
          <a:prstGeom prst="rect">
            <a:avLst/>
          </a:prstGeom>
        </p:spPr>
      </p:pic>
      <p:sp>
        <p:nvSpPr>
          <p:cNvPr id="18" name="proposal-card-c-title"/>
          <p:cNvSpPr/>
          <p:nvPr/>
        </p:nvSpPr>
        <p:spPr>
          <a:xfrm>
            <a:off x="11150600" y="4254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Revisar</a:t>
            </a:r>
            <a:endParaRPr lang="en-US" sz="2400" dirty="0"/>
          </a:p>
        </p:txBody>
      </p:sp>
      <p:sp>
        <p:nvSpPr>
          <p:cNvPr id="19" name="proposal-card-c-body"/>
          <p:cNvSpPr/>
          <p:nvPr/>
        </p:nvSpPr>
        <p:spPr>
          <a:xfrm>
            <a:off x="11150600" y="4889500"/>
            <a:ext cx="3175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Apresentar diferenças para decisão humana consciente.</a:t>
            </a:r>
            <a:endParaRPr lang="en-US" sz="1800" dirty="0"/>
          </a:p>
        </p:txBody>
      </p:sp>
      <p:sp>
        <p:nvSpPr>
          <p:cNvPr id="20" name="proposal-manifesto-line"/>
          <p:cNvSpPr/>
          <p:nvPr/>
        </p:nvSpPr>
        <p:spPr>
          <a:xfrm>
            <a:off x="762000" y="7175500"/>
            <a:ext cx="14732000" cy="9144"/>
          </a:xfrm>
          <a:prstGeom prst="line">
            <a:avLst/>
          </a:prstGeom>
          <a:ln w="12700">
            <a:solidFill>
              <a:srgbClr val="3A506B"/>
            </a:solidFill>
            <a:prstDash val="solid"/>
          </a:ln>
        </p:spPr>
      </p:sp>
      <p:sp>
        <p:nvSpPr>
          <p:cNvPr id="21" name="proposal-manifesto"/>
          <p:cNvSpPr/>
          <p:nvPr/>
        </p:nvSpPr>
        <p:spPr>
          <a:xfrm>
            <a:off x="762000" y="7467600"/>
            <a:ext cx="13335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B7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para localizar. Evidência para confiar. Especialista para decidir.</a:t>
            </a:r>
            <a:endParaRPr lang="en-US" sz="2100" dirty="0"/>
          </a:p>
        </p:txBody>
      </p:sp>
      <p:sp>
        <p:nvSpPr>
          <p:cNvPr id="22" name="proposal-footer-page"/>
          <p:cNvSpPr/>
          <p:nvPr/>
        </p:nvSpPr>
        <p:spPr>
          <a:xfrm>
            <a:off x="762000" y="86614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proposal-footer-tag"/>
          <p:cNvSpPr/>
          <p:nvPr/>
        </p:nvSpPr>
        <p:spPr>
          <a:xfrm>
            <a:off x="13716000" y="86614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INSURMINDS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title-line"/>
          <p:cNvSpPr/>
          <p:nvPr/>
        </p:nvSpPr>
        <p:spPr>
          <a:xfrm>
            <a:off x="762000" y="533400"/>
            <a:ext cx="1905000" cy="9144"/>
          </a:xfrm>
          <a:prstGeom prst="line">
            <a:avLst/>
          </a:prstGeom>
          <a:ln w="50800">
            <a:solidFill>
              <a:srgbClr val="FFB703"/>
            </a:solidFill>
            <a:prstDash val="solid"/>
          </a:ln>
        </p:spPr>
      </p:sp>
      <p:sp>
        <p:nvSpPr>
          <p:cNvPr id="3" name="flow-title"/>
          <p:cNvSpPr/>
          <p:nvPr/>
        </p:nvSpPr>
        <p:spPr>
          <a:xfrm>
            <a:off x="762000" y="736600"/>
            <a:ext cx="9906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MVP demonstrável</a:t>
            </a:r>
            <a:endParaRPr lang="en-US" sz="3400" dirty="0"/>
          </a:p>
        </p:txBody>
      </p:sp>
      <p:sp>
        <p:nvSpPr>
          <p:cNvPr id="4" name="flow-lead"/>
          <p:cNvSpPr/>
          <p:nvPr/>
        </p:nvSpPr>
        <p:spPr>
          <a:xfrm>
            <a:off x="762000" y="1651000"/>
            <a:ext cx="13335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jornada simples: do documento bruto à diferença revisável.</a:t>
            </a:r>
            <a:endParaRPr lang="en-US" sz="2100" dirty="0"/>
          </a:p>
        </p:txBody>
      </p:sp>
      <p:sp>
        <p:nvSpPr>
          <p:cNvPr id="5" name="flow-connector-1"/>
          <p:cNvSpPr/>
          <p:nvPr/>
        </p:nvSpPr>
        <p:spPr>
          <a:xfrm>
            <a:off x="2921000" y="4191000"/>
            <a:ext cx="482600" cy="9144"/>
          </a:xfrm>
          <a:prstGeom prst="line">
            <a:avLst/>
          </a:prstGeom>
          <a:ln w="25400">
            <a:solidFill>
              <a:srgbClr val="3A506B"/>
            </a:solidFill>
            <a:prstDash val="solid"/>
            <a:tailEnd type="triangle"/>
          </a:ln>
        </p:spPr>
      </p:sp>
      <p:sp>
        <p:nvSpPr>
          <p:cNvPr id="6" name="flow-connector-2"/>
          <p:cNvSpPr/>
          <p:nvPr/>
        </p:nvSpPr>
        <p:spPr>
          <a:xfrm>
            <a:off x="5143500" y="4191000"/>
            <a:ext cx="482600" cy="9144"/>
          </a:xfrm>
          <a:prstGeom prst="line">
            <a:avLst/>
          </a:prstGeom>
          <a:ln w="25400">
            <a:solidFill>
              <a:srgbClr val="3A506B"/>
            </a:solidFill>
            <a:prstDash val="solid"/>
            <a:tailEnd type="triangle"/>
          </a:ln>
        </p:spPr>
      </p:sp>
      <p:sp>
        <p:nvSpPr>
          <p:cNvPr id="7" name="flow-connector-3"/>
          <p:cNvSpPr/>
          <p:nvPr/>
        </p:nvSpPr>
        <p:spPr>
          <a:xfrm>
            <a:off x="7366000" y="4191000"/>
            <a:ext cx="482600" cy="9144"/>
          </a:xfrm>
          <a:prstGeom prst="line">
            <a:avLst/>
          </a:prstGeom>
          <a:ln w="25400">
            <a:solidFill>
              <a:srgbClr val="3A506B"/>
            </a:solidFill>
            <a:prstDash val="solid"/>
            <a:tailEnd type="triangle"/>
          </a:ln>
        </p:spPr>
      </p:sp>
      <p:sp>
        <p:nvSpPr>
          <p:cNvPr id="8" name="flow-connector-4"/>
          <p:cNvSpPr/>
          <p:nvPr/>
        </p:nvSpPr>
        <p:spPr>
          <a:xfrm>
            <a:off x="9588500" y="4191000"/>
            <a:ext cx="482600" cy="9144"/>
          </a:xfrm>
          <a:prstGeom prst="line">
            <a:avLst/>
          </a:prstGeom>
          <a:ln w="25400">
            <a:solidFill>
              <a:srgbClr val="3A506B"/>
            </a:solidFill>
            <a:prstDash val="solid"/>
            <a:tailEnd type="triangle"/>
          </a:ln>
        </p:spPr>
      </p:sp>
      <p:sp>
        <p:nvSpPr>
          <p:cNvPr id="9" name="flow-connector-5"/>
          <p:cNvSpPr/>
          <p:nvPr/>
        </p:nvSpPr>
        <p:spPr>
          <a:xfrm>
            <a:off x="11811000" y="4191000"/>
            <a:ext cx="482600" cy="9144"/>
          </a:xfrm>
          <a:prstGeom prst="line">
            <a:avLst/>
          </a:prstGeom>
          <a:ln w="25400">
            <a:solidFill>
              <a:srgbClr val="FFB703"/>
            </a:solidFill>
            <a:prstDash val="solid"/>
            <a:tailEnd type="triangle"/>
          </a:ln>
        </p:spPr>
      </p:sp>
      <p:sp>
        <p:nvSpPr>
          <p:cNvPr id="10" name="flow-card-1"/>
          <p:cNvSpPr/>
          <p:nvPr/>
        </p:nvSpPr>
        <p:spPr>
          <a:xfrm>
            <a:off x="889000" y="3175000"/>
            <a:ext cx="2032000" cy="2032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1" name="flow-number-1"/>
          <p:cNvSpPr/>
          <p:nvPr/>
        </p:nvSpPr>
        <p:spPr>
          <a:xfrm>
            <a:off x="1117600" y="34290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B7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pic>
        <p:nvPicPr>
          <p:cNvPr id="12" name="flow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3937000"/>
            <a:ext cx="431800" cy="431800"/>
          </a:xfrm>
          <a:prstGeom prst="rect">
            <a:avLst/>
          </a:prstGeom>
        </p:spPr>
      </p:pic>
      <p:sp>
        <p:nvSpPr>
          <p:cNvPr id="13" name="flow-label-1"/>
          <p:cNvSpPr/>
          <p:nvPr/>
        </p:nvSpPr>
        <p:spPr>
          <a:xfrm>
            <a:off x="1117600" y="46355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Receber</a:t>
            </a:r>
            <a:endParaRPr lang="en-US" sz="1800" dirty="0"/>
          </a:p>
        </p:txBody>
      </p:sp>
      <p:sp>
        <p:nvSpPr>
          <p:cNvPr id="14" name="flow-card-2"/>
          <p:cNvSpPr/>
          <p:nvPr/>
        </p:nvSpPr>
        <p:spPr>
          <a:xfrm>
            <a:off x="3111500" y="3175000"/>
            <a:ext cx="2032000" cy="2032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5" name="flow-number-2"/>
          <p:cNvSpPr/>
          <p:nvPr/>
        </p:nvSpPr>
        <p:spPr>
          <a:xfrm>
            <a:off x="3340100" y="34290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B7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pic>
        <p:nvPicPr>
          <p:cNvPr id="16" name="flow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100" y="3937000"/>
            <a:ext cx="431800" cy="431800"/>
          </a:xfrm>
          <a:prstGeom prst="rect">
            <a:avLst/>
          </a:prstGeom>
        </p:spPr>
      </p:pic>
      <p:sp>
        <p:nvSpPr>
          <p:cNvPr id="17" name="flow-label-2"/>
          <p:cNvSpPr/>
          <p:nvPr/>
        </p:nvSpPr>
        <p:spPr>
          <a:xfrm>
            <a:off x="3340100" y="46355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Extrair</a:t>
            </a:r>
            <a:endParaRPr lang="en-US" sz="1800" dirty="0"/>
          </a:p>
        </p:txBody>
      </p:sp>
      <p:sp>
        <p:nvSpPr>
          <p:cNvPr id="18" name="flow-card-3"/>
          <p:cNvSpPr/>
          <p:nvPr/>
        </p:nvSpPr>
        <p:spPr>
          <a:xfrm>
            <a:off x="5334000" y="3175000"/>
            <a:ext cx="2032000" cy="2032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9" name="flow-number-3"/>
          <p:cNvSpPr/>
          <p:nvPr/>
        </p:nvSpPr>
        <p:spPr>
          <a:xfrm>
            <a:off x="5562600" y="34290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B7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pic>
        <p:nvPicPr>
          <p:cNvPr id="20" name="flow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3937000"/>
            <a:ext cx="431800" cy="431800"/>
          </a:xfrm>
          <a:prstGeom prst="rect">
            <a:avLst/>
          </a:prstGeom>
        </p:spPr>
      </p:pic>
      <p:sp>
        <p:nvSpPr>
          <p:cNvPr id="21" name="flow-label-3"/>
          <p:cNvSpPr/>
          <p:nvPr/>
        </p:nvSpPr>
        <p:spPr>
          <a:xfrm>
            <a:off x="5562600" y="46355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Estruturar</a:t>
            </a:r>
            <a:endParaRPr lang="en-US" sz="1800" dirty="0"/>
          </a:p>
        </p:txBody>
      </p:sp>
      <p:sp>
        <p:nvSpPr>
          <p:cNvPr id="22" name="flow-card-4"/>
          <p:cNvSpPr/>
          <p:nvPr/>
        </p:nvSpPr>
        <p:spPr>
          <a:xfrm>
            <a:off x="7556500" y="3175000"/>
            <a:ext cx="2032000" cy="2032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23" name="flow-number-4"/>
          <p:cNvSpPr/>
          <p:nvPr/>
        </p:nvSpPr>
        <p:spPr>
          <a:xfrm>
            <a:off x="7785100" y="34290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B7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0" dirty="0"/>
          </a:p>
        </p:txBody>
      </p:sp>
      <p:pic>
        <p:nvPicPr>
          <p:cNvPr id="24" name="flow-icon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5100" y="3937000"/>
            <a:ext cx="431800" cy="431800"/>
          </a:xfrm>
          <a:prstGeom prst="rect">
            <a:avLst/>
          </a:prstGeom>
        </p:spPr>
      </p:pic>
      <p:sp>
        <p:nvSpPr>
          <p:cNvPr id="25" name="flow-label-4"/>
          <p:cNvSpPr/>
          <p:nvPr/>
        </p:nvSpPr>
        <p:spPr>
          <a:xfrm>
            <a:off x="7785100" y="46355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Armazenar</a:t>
            </a:r>
            <a:endParaRPr lang="en-US" sz="1800" dirty="0"/>
          </a:p>
        </p:txBody>
      </p:sp>
      <p:sp>
        <p:nvSpPr>
          <p:cNvPr id="26" name="flow-card-5"/>
          <p:cNvSpPr/>
          <p:nvPr/>
        </p:nvSpPr>
        <p:spPr>
          <a:xfrm>
            <a:off x="9779000" y="3175000"/>
            <a:ext cx="2032000" cy="2032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27" name="flow-number-5"/>
          <p:cNvSpPr/>
          <p:nvPr/>
        </p:nvSpPr>
        <p:spPr>
          <a:xfrm>
            <a:off x="10007600" y="34290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FB7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600" dirty="0"/>
          </a:p>
        </p:txBody>
      </p:sp>
      <p:pic>
        <p:nvPicPr>
          <p:cNvPr id="28" name="flow-icon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7600" y="3937000"/>
            <a:ext cx="431800" cy="431800"/>
          </a:xfrm>
          <a:prstGeom prst="rect">
            <a:avLst/>
          </a:prstGeom>
        </p:spPr>
      </p:pic>
      <p:sp>
        <p:nvSpPr>
          <p:cNvPr id="29" name="flow-label-5"/>
          <p:cNvSpPr/>
          <p:nvPr/>
        </p:nvSpPr>
        <p:spPr>
          <a:xfrm>
            <a:off x="10007600" y="46355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</a:t>
            </a:r>
            <a:endParaRPr lang="en-US" sz="1800" dirty="0"/>
          </a:p>
        </p:txBody>
      </p:sp>
      <p:sp>
        <p:nvSpPr>
          <p:cNvPr id="30" name="flow-card-6"/>
          <p:cNvSpPr/>
          <p:nvPr/>
        </p:nvSpPr>
        <p:spPr>
          <a:xfrm>
            <a:off x="12001500" y="3175000"/>
            <a:ext cx="2032000" cy="20320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1" name="flow-number-6"/>
          <p:cNvSpPr/>
          <p:nvPr/>
        </p:nvSpPr>
        <p:spPr>
          <a:xfrm>
            <a:off x="12230100" y="34290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0B1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600" dirty="0"/>
          </a:p>
        </p:txBody>
      </p:sp>
      <p:pic>
        <p:nvPicPr>
          <p:cNvPr id="32" name="flow-icon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0100" y="3937000"/>
            <a:ext cx="431800" cy="431800"/>
          </a:xfrm>
          <a:prstGeom prst="rect">
            <a:avLst/>
          </a:prstGeom>
        </p:spPr>
      </p:pic>
      <p:sp>
        <p:nvSpPr>
          <p:cNvPr id="33" name="flow-label-6"/>
          <p:cNvSpPr/>
          <p:nvPr/>
        </p:nvSpPr>
        <p:spPr>
          <a:xfrm>
            <a:off x="12230100" y="46355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B13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</a:t>
            </a:r>
            <a:endParaRPr lang="en-US" sz="1800" dirty="0"/>
          </a:p>
        </p:txBody>
      </p:sp>
      <p:sp>
        <p:nvSpPr>
          <p:cNvPr id="34" name="flow-note"/>
          <p:cNvSpPr/>
          <p:nvPr/>
        </p:nvSpPr>
        <p:spPr>
          <a:xfrm>
            <a:off x="889000" y="6477000"/>
            <a:ext cx="13144500" cy="914400"/>
          </a:xfrm>
          <a:prstGeom prst="rect">
            <a:avLst/>
          </a:prstGeom>
          <a:solidFill>
            <a:srgbClr val="111E3A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35" name="flow-note-text"/>
          <p:cNvSpPr/>
          <p:nvPr/>
        </p:nvSpPr>
        <p:spPr>
          <a:xfrm>
            <a:off x="1206500" y="6718300"/>
            <a:ext cx="12319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sistema reduz localização manual; a decisão continua humana, documentada e revisável.</a:t>
            </a:r>
            <a:endParaRPr lang="en-US" sz="1900" dirty="0"/>
          </a:p>
        </p:txBody>
      </p:sp>
      <p:sp>
        <p:nvSpPr>
          <p:cNvPr id="36" name="flow-footer-page"/>
          <p:cNvSpPr/>
          <p:nvPr/>
        </p:nvSpPr>
        <p:spPr>
          <a:xfrm>
            <a:off x="762000" y="86614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37" name="flow-footer-tag"/>
          <p:cNvSpPr/>
          <p:nvPr/>
        </p:nvSpPr>
        <p:spPr>
          <a:xfrm>
            <a:off x="13716000" y="86614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INSURMINDS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hitecture-title-line"/>
          <p:cNvSpPr/>
          <p:nvPr/>
        </p:nvSpPr>
        <p:spPr>
          <a:xfrm>
            <a:off x="762000" y="533400"/>
            <a:ext cx="1905000" cy="9144"/>
          </a:xfrm>
          <a:prstGeom prst="line">
            <a:avLst/>
          </a:prstGeom>
          <a:ln w="50800">
            <a:solidFill>
              <a:srgbClr val="FFB703"/>
            </a:solidFill>
            <a:prstDash val="solid"/>
          </a:ln>
        </p:spPr>
      </p:sp>
      <p:sp>
        <p:nvSpPr>
          <p:cNvPr id="3" name="architecture-title"/>
          <p:cNvSpPr/>
          <p:nvPr/>
        </p:nvSpPr>
        <p:spPr>
          <a:xfrm>
            <a:off x="762000" y="736600"/>
            <a:ext cx="9906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Arquitetura</a:t>
            </a:r>
            <a:endParaRPr lang="en-US" sz="3400" dirty="0"/>
          </a:p>
        </p:txBody>
      </p:sp>
      <p:sp>
        <p:nvSpPr>
          <p:cNvPr id="4" name="architecture-lead"/>
          <p:cNvSpPr/>
          <p:nvPr/>
        </p:nvSpPr>
        <p:spPr>
          <a:xfrm>
            <a:off x="762000" y="1651000"/>
            <a:ext cx="13335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especializados mantêm responsabilidades separadas e tornam o fluxo explicável.</a:t>
            </a:r>
            <a:endParaRPr lang="en-US" sz="2100" dirty="0"/>
          </a:p>
        </p:txBody>
      </p:sp>
      <p:sp>
        <p:nvSpPr>
          <p:cNvPr id="5" name="architecture-layer-1"/>
          <p:cNvSpPr/>
          <p:nvPr/>
        </p:nvSpPr>
        <p:spPr>
          <a:xfrm>
            <a:off x="762000" y="2603500"/>
            <a:ext cx="4445000" cy="889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6" name="architecture-layer-1-top"/>
          <p:cNvSpPr/>
          <p:nvPr/>
        </p:nvSpPr>
        <p:spPr>
          <a:xfrm>
            <a:off x="762000" y="2603500"/>
            <a:ext cx="4445000" cy="508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architecture-layer-1-title"/>
          <p:cNvSpPr/>
          <p:nvPr/>
        </p:nvSpPr>
        <p:spPr>
          <a:xfrm>
            <a:off x="1066800" y="28448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B7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</a:t>
            </a:r>
            <a:endParaRPr lang="en-US" sz="1500" dirty="0"/>
          </a:p>
        </p:txBody>
      </p:sp>
      <p:sp>
        <p:nvSpPr>
          <p:cNvPr id="8" name="architecture-layer-1-body"/>
          <p:cNvSpPr/>
          <p:nvPr/>
        </p:nvSpPr>
        <p:spPr>
          <a:xfrm>
            <a:off x="1066800" y="31750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· PDF · OCR</a:t>
            </a:r>
            <a:endParaRPr lang="en-US" sz="1800" dirty="0"/>
          </a:p>
        </p:txBody>
      </p:sp>
      <p:sp>
        <p:nvSpPr>
          <p:cNvPr id="9" name="architecture-layer-2"/>
          <p:cNvSpPr/>
          <p:nvPr/>
        </p:nvSpPr>
        <p:spPr>
          <a:xfrm>
            <a:off x="5905500" y="2603500"/>
            <a:ext cx="4445000" cy="889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0" name="architecture-layer-2-top"/>
          <p:cNvSpPr/>
          <p:nvPr/>
        </p:nvSpPr>
        <p:spPr>
          <a:xfrm>
            <a:off x="5905500" y="2603500"/>
            <a:ext cx="4445000" cy="508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1" name="architecture-layer-2-title"/>
          <p:cNvSpPr/>
          <p:nvPr/>
        </p:nvSpPr>
        <p:spPr>
          <a:xfrm>
            <a:off x="6210300" y="28448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B7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INTELIGÊNCIA</a:t>
            </a:r>
            <a:endParaRPr lang="en-US" sz="1500" dirty="0"/>
          </a:p>
        </p:txBody>
      </p:sp>
      <p:sp>
        <p:nvSpPr>
          <p:cNvPr id="12" name="architecture-layer-2-body"/>
          <p:cNvSpPr/>
          <p:nvPr/>
        </p:nvSpPr>
        <p:spPr>
          <a:xfrm>
            <a:off x="6210300" y="31750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· IA · validação</a:t>
            </a:r>
            <a:endParaRPr lang="en-US" sz="1800" dirty="0"/>
          </a:p>
        </p:txBody>
      </p:sp>
      <p:sp>
        <p:nvSpPr>
          <p:cNvPr id="13" name="architecture-layer-3"/>
          <p:cNvSpPr/>
          <p:nvPr/>
        </p:nvSpPr>
        <p:spPr>
          <a:xfrm>
            <a:off x="11049000" y="2603500"/>
            <a:ext cx="4445000" cy="889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4" name="architecture-layer-3-top"/>
          <p:cNvSpPr/>
          <p:nvPr/>
        </p:nvSpPr>
        <p:spPr>
          <a:xfrm>
            <a:off x="11049000" y="2603500"/>
            <a:ext cx="4445000" cy="508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5" name="architecture-layer-3-title"/>
          <p:cNvSpPr/>
          <p:nvPr/>
        </p:nvSpPr>
        <p:spPr>
          <a:xfrm>
            <a:off x="11353800" y="28448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FFB7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SAÍDA</a:t>
            </a:r>
            <a:endParaRPr lang="en-US" sz="1500" dirty="0"/>
          </a:p>
        </p:txBody>
      </p:sp>
      <p:sp>
        <p:nvSpPr>
          <p:cNvPr id="16" name="architecture-layer-3-body"/>
          <p:cNvSpPr/>
          <p:nvPr/>
        </p:nvSpPr>
        <p:spPr>
          <a:xfrm>
            <a:off x="11353800" y="31750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· comparação · UI</a:t>
            </a:r>
            <a:endParaRPr lang="en-US" sz="1800" dirty="0"/>
          </a:p>
        </p:txBody>
      </p:sp>
      <p:sp>
        <p:nvSpPr>
          <p:cNvPr id="17" name="architecture-image-frame"/>
          <p:cNvSpPr/>
          <p:nvPr/>
        </p:nvSpPr>
        <p:spPr>
          <a:xfrm>
            <a:off x="762000" y="3810000"/>
            <a:ext cx="14732000" cy="1676400"/>
          </a:xfrm>
          <a:prstGeom prst="rect">
            <a:avLst/>
          </a:prstGeom>
          <a:solidFill>
            <a:srgbClr val="111E3A"/>
          </a:solidFill>
          <a:ln w="12700">
            <a:solidFill>
              <a:srgbClr val="3A506B"/>
            </a:solidFill>
            <a:prstDash val="solid"/>
          </a:ln>
        </p:spPr>
      </p:sp>
      <p:pic>
        <p:nvPicPr>
          <p:cNvPr id="18" name="architecture-diagram" descr="preencoded.png">    </p:cNvPr>
          <p:cNvPicPr>
            <a:picLocks noChangeAspect="1"/>
          </p:cNvPicPr>
          <p:nvPr/>
        </p:nvPicPr>
        <p:blipFill>
          <a:blip r:embed="rId1"/>
          <a:srcRect l="0" r="0" t="-682" b="-682"/>
          <a:stretch/>
        </p:blipFill>
        <p:spPr>
          <a:xfrm>
            <a:off x="889000" y="4064000"/>
            <a:ext cx="14478000" cy="1016000"/>
          </a:xfrm>
          <a:prstGeom prst="rect">
            <a:avLst/>
          </a:prstGeom>
        </p:spPr>
      </p:pic>
      <p:sp>
        <p:nvSpPr>
          <p:cNvPr id="19" name="architecture-note"/>
          <p:cNvSpPr/>
          <p:nvPr/>
        </p:nvSpPr>
        <p:spPr>
          <a:xfrm>
            <a:off x="762000" y="6350000"/>
            <a:ext cx="1320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comparação é determinística; a IA enriquece a extração e o resumo, mas não substitui a evidência.</a:t>
            </a:r>
            <a:endParaRPr lang="en-US" sz="2000" dirty="0"/>
          </a:p>
        </p:txBody>
      </p:sp>
      <p:sp>
        <p:nvSpPr>
          <p:cNvPr id="20" name="architecture-footer-page"/>
          <p:cNvSpPr/>
          <p:nvPr/>
        </p:nvSpPr>
        <p:spPr>
          <a:xfrm>
            <a:off x="762000" y="86614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architecture-footer-tag"/>
          <p:cNvSpPr/>
          <p:nvPr/>
        </p:nvSpPr>
        <p:spPr>
          <a:xfrm>
            <a:off x="13716000" y="86614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INSURMINDS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i-title-line"/>
          <p:cNvSpPr/>
          <p:nvPr/>
        </p:nvSpPr>
        <p:spPr>
          <a:xfrm>
            <a:off x="762000" y="533400"/>
            <a:ext cx="1905000" cy="9144"/>
          </a:xfrm>
          <a:prstGeom prst="line">
            <a:avLst/>
          </a:prstGeom>
          <a:ln w="50800">
            <a:solidFill>
              <a:srgbClr val="FFB703"/>
            </a:solidFill>
            <a:prstDash val="solid"/>
          </a:ln>
        </p:spPr>
      </p:sp>
      <p:sp>
        <p:nvSpPr>
          <p:cNvPr id="3" name="ai-title"/>
          <p:cNvSpPr/>
          <p:nvPr/>
        </p:nvSpPr>
        <p:spPr>
          <a:xfrm>
            <a:off x="762000" y="736600"/>
            <a:ext cx="9906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IA com controle</a:t>
            </a:r>
            <a:endParaRPr lang="en-US" sz="3400" dirty="0"/>
          </a:p>
        </p:txBody>
      </p:sp>
      <p:sp>
        <p:nvSpPr>
          <p:cNvPr id="4" name="ai-lead"/>
          <p:cNvSpPr/>
          <p:nvPr/>
        </p:nvSpPr>
        <p:spPr>
          <a:xfrm>
            <a:off x="762000" y="1651000"/>
            <a:ext cx="13335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modelo acelera a leitura; o pipeline controla o que pode virar fato.</a:t>
            </a:r>
            <a:endParaRPr lang="en-US" sz="2100" dirty="0"/>
          </a:p>
        </p:txBody>
      </p:sp>
      <p:sp>
        <p:nvSpPr>
          <p:cNvPr id="5" name="ai-input-card"/>
          <p:cNvSpPr/>
          <p:nvPr/>
        </p:nvSpPr>
        <p:spPr>
          <a:xfrm>
            <a:off x="762000" y="2413000"/>
            <a:ext cx="6350000" cy="3175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6" name="ai-input-top"/>
          <p:cNvSpPr/>
          <p:nvPr/>
        </p:nvSpPr>
        <p:spPr>
          <a:xfrm>
            <a:off x="762000" y="2413000"/>
            <a:ext cx="6350000" cy="50800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7" name="ai-inpu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2857500"/>
            <a:ext cx="457200" cy="457200"/>
          </a:xfrm>
          <a:prstGeom prst="rect">
            <a:avLst/>
          </a:prstGeom>
        </p:spPr>
      </p:pic>
      <p:sp>
        <p:nvSpPr>
          <p:cNvPr id="8" name="ai-input-title"/>
          <p:cNvSpPr/>
          <p:nvPr/>
        </p:nvSpPr>
        <p:spPr>
          <a:xfrm>
            <a:off x="1778000" y="2895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Entrada autorizada</a:t>
            </a:r>
            <a:endParaRPr lang="en-US" sz="2300" dirty="0"/>
          </a:p>
        </p:txBody>
      </p:sp>
      <p:sp>
        <p:nvSpPr>
          <p:cNvPr id="9" name="ai-input-list"/>
          <p:cNvSpPr/>
          <p:nvPr/>
        </p:nvSpPr>
        <p:spPr>
          <a:xfrm>
            <a:off x="1168400" y="3810000"/>
            <a:ext cx="520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 das páginas</a:t>
            </a:r>
            <a:endParaRPr lang="en-US" sz="1800" dirty="0"/>
          </a:p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labels do schema</a:t>
            </a:r>
            <a:endParaRPr lang="en-US" sz="1800" dirty="0"/>
          </a:p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Instrução: não inventar fatos</a:t>
            </a:r>
            <a:endParaRPr lang="en-US" sz="1800" dirty="0"/>
          </a:p>
        </p:txBody>
      </p:sp>
      <p:sp>
        <p:nvSpPr>
          <p:cNvPr id="10" name="ai-output-card"/>
          <p:cNvSpPr/>
          <p:nvPr/>
        </p:nvSpPr>
        <p:spPr>
          <a:xfrm>
            <a:off x="9144000" y="2413000"/>
            <a:ext cx="6350000" cy="3175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1" name="ai-output-top"/>
          <p:cNvSpPr/>
          <p:nvPr/>
        </p:nvSpPr>
        <p:spPr>
          <a:xfrm>
            <a:off x="9144000" y="2413000"/>
            <a:ext cx="6350000" cy="50800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12" name="ai-output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2857500"/>
            <a:ext cx="457200" cy="457200"/>
          </a:xfrm>
          <a:prstGeom prst="rect">
            <a:avLst/>
          </a:prstGeom>
        </p:spPr>
      </p:pic>
      <p:sp>
        <p:nvSpPr>
          <p:cNvPr id="13" name="ai-output-title"/>
          <p:cNvSpPr/>
          <p:nvPr/>
        </p:nvSpPr>
        <p:spPr>
          <a:xfrm>
            <a:off x="10160000" y="2895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Saída verificável</a:t>
            </a:r>
            <a:endParaRPr lang="en-US" sz="2300" dirty="0"/>
          </a:p>
        </p:txBody>
      </p:sp>
      <p:sp>
        <p:nvSpPr>
          <p:cNvPr id="14" name="ai-output-list"/>
          <p:cNvSpPr/>
          <p:nvPr/>
        </p:nvSpPr>
        <p:spPr>
          <a:xfrm>
            <a:off x="9550400" y="3810000"/>
            <a:ext cx="520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e status</a:t>
            </a:r>
            <a:endParaRPr lang="en-US" sz="1800" dirty="0"/>
          </a:p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 e evidência</a:t>
            </a:r>
            <a:endParaRPr lang="en-US" sz="1800" dirty="0"/>
          </a:p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Confiança e normalização</a:t>
            </a:r>
            <a:endParaRPr lang="en-US" sz="1800" dirty="0"/>
          </a:p>
        </p:txBody>
      </p:sp>
      <p:sp>
        <p:nvSpPr>
          <p:cNvPr id="15" name="ai-arrow"/>
          <p:cNvSpPr/>
          <p:nvPr/>
        </p:nvSpPr>
        <p:spPr>
          <a:xfrm>
            <a:off x="7112000" y="4000500"/>
            <a:ext cx="2032000" cy="9144"/>
          </a:xfrm>
          <a:prstGeom prst="line">
            <a:avLst/>
          </a:prstGeom>
          <a:ln w="38100">
            <a:solidFill>
              <a:srgbClr val="FFB703"/>
            </a:solidFill>
            <a:prstDash val="solid"/>
            <a:tailEnd type="triangle"/>
          </a:ln>
        </p:spPr>
      </p:sp>
      <p:sp>
        <p:nvSpPr>
          <p:cNvPr id="16" name="ai-arrow-label"/>
          <p:cNvSpPr/>
          <p:nvPr/>
        </p:nvSpPr>
        <p:spPr>
          <a:xfrm>
            <a:off x="7429500" y="35560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FFB7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</a:t>
            </a:r>
            <a:endParaRPr lang="en-US" sz="1400" dirty="0"/>
          </a:p>
        </p:txBody>
      </p:sp>
      <p:sp>
        <p:nvSpPr>
          <p:cNvPr id="17" name="ai-guardrail"/>
          <p:cNvSpPr/>
          <p:nvPr/>
        </p:nvSpPr>
        <p:spPr>
          <a:xfrm>
            <a:off x="762000" y="6477000"/>
            <a:ext cx="14732000" cy="990600"/>
          </a:xfrm>
          <a:prstGeom prst="rect">
            <a:avLst/>
          </a:prstGeom>
          <a:solidFill>
            <a:srgbClr val="111E3A"/>
          </a:solidFill>
          <a:ln w="25400">
            <a:solidFill>
              <a:srgbClr val="FFB703"/>
            </a:solidFill>
            <a:prstDash val="solid"/>
          </a:ln>
        </p:spPr>
      </p:sp>
      <p:pic>
        <p:nvPicPr>
          <p:cNvPr id="18" name="ai-guardrail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6756400"/>
            <a:ext cx="381000" cy="381000"/>
          </a:xfrm>
          <a:prstGeom prst="rect">
            <a:avLst/>
          </a:prstGeom>
        </p:spPr>
      </p:pic>
      <p:sp>
        <p:nvSpPr>
          <p:cNvPr id="19" name="ai-guardrail-text"/>
          <p:cNvSpPr/>
          <p:nvPr/>
        </p:nvSpPr>
        <p:spPr>
          <a:xfrm>
            <a:off x="1727200" y="6667500"/>
            <a:ext cx="1320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“Não localizado” não significa “excluído”. Se a resposta vier incompleta, o fallback local evita lacunas artificiais.</a:t>
            </a:r>
            <a:endParaRPr lang="en-US" sz="1900" dirty="0"/>
          </a:p>
        </p:txBody>
      </p:sp>
      <p:sp>
        <p:nvSpPr>
          <p:cNvPr id="20" name="ai-footer-page"/>
          <p:cNvSpPr/>
          <p:nvPr/>
        </p:nvSpPr>
        <p:spPr>
          <a:xfrm>
            <a:off x="762000" y="86614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ai-footer-tag"/>
          <p:cNvSpPr/>
          <p:nvPr/>
        </p:nvSpPr>
        <p:spPr>
          <a:xfrm>
            <a:off x="13716000" y="86614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INSURMINDS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arison-title-line"/>
          <p:cNvSpPr/>
          <p:nvPr/>
        </p:nvSpPr>
        <p:spPr>
          <a:xfrm>
            <a:off x="762000" y="533400"/>
            <a:ext cx="1905000" cy="9144"/>
          </a:xfrm>
          <a:prstGeom prst="line">
            <a:avLst/>
          </a:prstGeom>
          <a:ln w="50800">
            <a:solidFill>
              <a:srgbClr val="FFB703"/>
            </a:solidFill>
            <a:prstDash val="solid"/>
          </a:ln>
        </p:spPr>
      </p:sp>
      <p:sp>
        <p:nvSpPr>
          <p:cNvPr id="3" name="comparison-title"/>
          <p:cNvSpPr/>
          <p:nvPr/>
        </p:nvSpPr>
        <p:spPr>
          <a:xfrm>
            <a:off x="762000" y="736600"/>
            <a:ext cx="10414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Comparação explicável</a:t>
            </a:r>
            <a:endParaRPr lang="en-US" sz="3400" dirty="0"/>
          </a:p>
        </p:txBody>
      </p:sp>
      <p:sp>
        <p:nvSpPr>
          <p:cNvPr id="4" name="comparison-lead"/>
          <p:cNvSpPr/>
          <p:nvPr/>
        </p:nvSpPr>
        <p:spPr>
          <a:xfrm>
            <a:off x="762000" y="1651000"/>
            <a:ext cx="1397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diferença mostra valor, status, página e trecho de origem.</a:t>
            </a:r>
            <a:endParaRPr lang="en-US" sz="2100" dirty="0"/>
          </a:p>
        </p:txBody>
      </p:sp>
      <p:graphicFrame>
        <p:nvGraphicFramePr>
          <p:cNvPr id="8" name="comparis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413000"/>
          <a:ext cx="14732000" cy="4191000"/>
        </p:xfrm>
        <a:graphic>
          <a:graphicData uri="http://schemas.openxmlformats.org/drawingml/2006/table">
            <a:tbl>
              <a:tblPr/>
              <a:tblGrid>
                <a:gridCol w="5261431"/>
                <a:gridCol w="3507616"/>
                <a:gridCol w="3507616"/>
                <a:gridCol w="2455338"/>
              </a:tblGrid>
              <a:tr h="61331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B70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CAMPO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B7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B70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APÓLICE 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B7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B70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APÓLICE B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B7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B70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STATUS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B7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7155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Limite máximo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B7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R$ 10 mi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B7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R$ 15 mi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B7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B70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DIFERENTE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B7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55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Franquia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R$ 50 mil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R$ 100 mil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B70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DIFERENTE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55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Âmbito geográfico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Sem EUA/Canadá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Inclui EUA/Canadá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B70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DIFERENTE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55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Período adicional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 meses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36 meses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B70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DIFERENTE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55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Cobertura C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Não incluída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Incluída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FFB70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DIFERENTE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27000" marB="127000" anchor="ctr">
                    <a:lnL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506B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omparison-schema-strip"/>
          <p:cNvSpPr/>
          <p:nvPr/>
        </p:nvSpPr>
        <p:spPr>
          <a:xfrm>
            <a:off x="762000" y="7112000"/>
            <a:ext cx="14732000" cy="736600"/>
          </a:xfrm>
          <a:prstGeom prst="rect">
            <a:avLst/>
          </a:prstGeom>
          <a:solidFill>
            <a:srgbClr val="111E3A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7" name="comparison-schema-label"/>
          <p:cNvSpPr/>
          <p:nvPr/>
        </p:nvSpPr>
        <p:spPr>
          <a:xfrm>
            <a:off x="1066800" y="7340600"/>
            <a:ext cx="279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B7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CAMPOS · 7 GRUPOS</a:t>
            </a:r>
            <a:endParaRPr lang="en-US" sz="1400" dirty="0"/>
          </a:p>
        </p:txBody>
      </p:sp>
      <p:sp>
        <p:nvSpPr>
          <p:cNvPr id="5" name="comparison-schema-text"/>
          <p:cNvSpPr/>
          <p:nvPr/>
        </p:nvSpPr>
        <p:spPr>
          <a:xfrm>
            <a:off x="4064000" y="7315200"/>
            <a:ext cx="1092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Identificação · limites · retenções · coberturas · extensões · exclusões · condições</a:t>
            </a:r>
            <a:endParaRPr lang="en-US" sz="1800" dirty="0"/>
          </a:p>
        </p:txBody>
      </p:sp>
      <p:sp>
        <p:nvSpPr>
          <p:cNvPr id="9" name="comparison-footer-page"/>
          <p:cNvSpPr/>
          <p:nvPr/>
        </p:nvSpPr>
        <p:spPr>
          <a:xfrm>
            <a:off x="762000" y="86614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400" dirty="0"/>
          </a:p>
        </p:txBody>
      </p:sp>
      <p:sp>
        <p:nvSpPr>
          <p:cNvPr id="10" name="comparison-footer-tag"/>
          <p:cNvSpPr/>
          <p:nvPr/>
        </p:nvSpPr>
        <p:spPr>
          <a:xfrm>
            <a:off x="13716000" y="86614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INSURMINDS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sults-title-line"/>
          <p:cNvSpPr/>
          <p:nvPr/>
        </p:nvSpPr>
        <p:spPr>
          <a:xfrm>
            <a:off x="762000" y="533400"/>
            <a:ext cx="1905000" cy="9144"/>
          </a:xfrm>
          <a:prstGeom prst="line">
            <a:avLst/>
          </a:prstGeom>
          <a:ln w="50800">
            <a:solidFill>
              <a:srgbClr val="FFB703"/>
            </a:solidFill>
            <a:prstDash val="solid"/>
          </a:ln>
        </p:spPr>
      </p:sp>
      <p:sp>
        <p:nvSpPr>
          <p:cNvPr id="3" name="results-title"/>
          <p:cNvSpPr/>
          <p:nvPr/>
        </p:nvSpPr>
        <p:spPr>
          <a:xfrm>
            <a:off x="762000" y="736600"/>
            <a:ext cx="10414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Resultado validado</a:t>
            </a:r>
            <a:endParaRPr lang="en-US" sz="3400" dirty="0"/>
          </a:p>
        </p:txBody>
      </p:sp>
      <p:sp>
        <p:nvSpPr>
          <p:cNvPr id="4" name="results-lead"/>
          <p:cNvSpPr/>
          <p:nvPr/>
        </p:nvSpPr>
        <p:spPr>
          <a:xfrm>
            <a:off x="762000" y="1651000"/>
            <a:ext cx="1397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MVP foi executado com corpus sintético, testes automatizados e provider de IA.</a:t>
            </a:r>
            <a:endParaRPr lang="en-US" sz="2100" dirty="0"/>
          </a:p>
        </p:txBody>
      </p:sp>
      <p:sp>
        <p:nvSpPr>
          <p:cNvPr id="5" name="results-card-1"/>
          <p:cNvSpPr/>
          <p:nvPr/>
        </p:nvSpPr>
        <p:spPr>
          <a:xfrm>
            <a:off x="762000" y="2603500"/>
            <a:ext cx="3238500" cy="2794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6" name="results-card-1-top"/>
          <p:cNvSpPr/>
          <p:nvPr/>
        </p:nvSpPr>
        <p:spPr>
          <a:xfrm>
            <a:off x="762000" y="2603500"/>
            <a:ext cx="3238500" cy="508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results-value-1"/>
          <p:cNvSpPr/>
          <p:nvPr/>
        </p:nvSpPr>
        <p:spPr>
          <a:xfrm>
            <a:off x="1041400" y="3111500"/>
            <a:ext cx="26670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5200" dirty="0">
                <a:solidFill>
                  <a:srgbClr val="FFB70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5200" dirty="0"/>
          </a:p>
        </p:txBody>
      </p:sp>
      <p:sp>
        <p:nvSpPr>
          <p:cNvPr id="8" name="results-label-1"/>
          <p:cNvSpPr/>
          <p:nvPr/>
        </p:nvSpPr>
        <p:spPr>
          <a:xfrm>
            <a:off x="1041400" y="41910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</a:t>
            </a:r>
            <a:endParaRPr lang="en-US" sz="1900" dirty="0"/>
          </a:p>
        </p:txBody>
      </p:sp>
      <p:sp>
        <p:nvSpPr>
          <p:cNvPr id="9" name="results-note-1"/>
          <p:cNvSpPr/>
          <p:nvPr/>
        </p:nvSpPr>
        <p:spPr>
          <a:xfrm>
            <a:off x="1041400" y="4699000"/>
            <a:ext cx="228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processados</a:t>
            </a:r>
            <a:endParaRPr lang="en-US" sz="1400" dirty="0"/>
          </a:p>
        </p:txBody>
      </p:sp>
      <p:sp>
        <p:nvSpPr>
          <p:cNvPr id="10" name="results-card-2"/>
          <p:cNvSpPr/>
          <p:nvPr/>
        </p:nvSpPr>
        <p:spPr>
          <a:xfrm>
            <a:off x="4508500" y="2603500"/>
            <a:ext cx="3238500" cy="2794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1" name="results-card-2-top"/>
          <p:cNvSpPr/>
          <p:nvPr/>
        </p:nvSpPr>
        <p:spPr>
          <a:xfrm>
            <a:off x="4508500" y="2603500"/>
            <a:ext cx="3238500" cy="508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2" name="results-value-2"/>
          <p:cNvSpPr/>
          <p:nvPr/>
        </p:nvSpPr>
        <p:spPr>
          <a:xfrm>
            <a:off x="4787900" y="3111500"/>
            <a:ext cx="26670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5200" dirty="0">
                <a:solidFill>
                  <a:srgbClr val="FFB70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5200" dirty="0"/>
          </a:p>
        </p:txBody>
      </p:sp>
      <p:sp>
        <p:nvSpPr>
          <p:cNvPr id="13" name="results-label-2"/>
          <p:cNvSpPr/>
          <p:nvPr/>
        </p:nvSpPr>
        <p:spPr>
          <a:xfrm>
            <a:off x="4787900" y="41910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páginas</a:t>
            </a:r>
            <a:endParaRPr lang="en-US" sz="1900" dirty="0"/>
          </a:p>
        </p:txBody>
      </p:sp>
      <p:sp>
        <p:nvSpPr>
          <p:cNvPr id="14" name="results-note-2"/>
          <p:cNvSpPr/>
          <p:nvPr/>
        </p:nvSpPr>
        <p:spPr>
          <a:xfrm>
            <a:off x="4787900" y="4699000"/>
            <a:ext cx="228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extraídas</a:t>
            </a:r>
            <a:endParaRPr lang="en-US" sz="1400" dirty="0"/>
          </a:p>
        </p:txBody>
      </p:sp>
      <p:sp>
        <p:nvSpPr>
          <p:cNvPr id="15" name="results-card-3"/>
          <p:cNvSpPr/>
          <p:nvPr/>
        </p:nvSpPr>
        <p:spPr>
          <a:xfrm>
            <a:off x="8255000" y="2603500"/>
            <a:ext cx="3238500" cy="2794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6" name="results-card-3-top"/>
          <p:cNvSpPr/>
          <p:nvPr/>
        </p:nvSpPr>
        <p:spPr>
          <a:xfrm>
            <a:off x="8255000" y="2603500"/>
            <a:ext cx="3238500" cy="508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7" name="results-value-3"/>
          <p:cNvSpPr/>
          <p:nvPr/>
        </p:nvSpPr>
        <p:spPr>
          <a:xfrm>
            <a:off x="8534400" y="3111500"/>
            <a:ext cx="26670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5200" dirty="0">
                <a:solidFill>
                  <a:srgbClr val="FFB70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</a:t>
            </a:r>
            <a:endParaRPr lang="en-US" sz="5200" dirty="0"/>
          </a:p>
        </p:txBody>
      </p:sp>
      <p:sp>
        <p:nvSpPr>
          <p:cNvPr id="18" name="results-label-3"/>
          <p:cNvSpPr/>
          <p:nvPr/>
        </p:nvSpPr>
        <p:spPr>
          <a:xfrm>
            <a:off x="8534400" y="41910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campos</a:t>
            </a:r>
            <a:endParaRPr lang="en-US" sz="1900" dirty="0"/>
          </a:p>
        </p:txBody>
      </p:sp>
      <p:sp>
        <p:nvSpPr>
          <p:cNvPr id="19" name="results-note-3"/>
          <p:cNvSpPr/>
          <p:nvPr/>
        </p:nvSpPr>
        <p:spPr>
          <a:xfrm>
            <a:off x="8534400" y="4699000"/>
            <a:ext cx="241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comparados</a:t>
            </a:r>
            <a:endParaRPr lang="en-US" sz="1400" dirty="0"/>
          </a:p>
        </p:txBody>
      </p:sp>
      <p:sp>
        <p:nvSpPr>
          <p:cNvPr id="20" name="results-card-4"/>
          <p:cNvSpPr/>
          <p:nvPr/>
        </p:nvSpPr>
        <p:spPr>
          <a:xfrm>
            <a:off x="12001500" y="2603500"/>
            <a:ext cx="3238500" cy="2794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21" name="results-card-4-top"/>
          <p:cNvSpPr/>
          <p:nvPr/>
        </p:nvSpPr>
        <p:spPr>
          <a:xfrm>
            <a:off x="12001500" y="2603500"/>
            <a:ext cx="3238500" cy="508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2" name="results-value-4"/>
          <p:cNvSpPr/>
          <p:nvPr/>
        </p:nvSpPr>
        <p:spPr>
          <a:xfrm>
            <a:off x="12280900" y="3111500"/>
            <a:ext cx="26670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5200" dirty="0">
                <a:solidFill>
                  <a:srgbClr val="FFB70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</a:t>
            </a:r>
            <a:endParaRPr lang="en-US" sz="5200" dirty="0"/>
          </a:p>
        </p:txBody>
      </p:sp>
      <p:sp>
        <p:nvSpPr>
          <p:cNvPr id="23" name="results-label-4"/>
          <p:cNvSpPr/>
          <p:nvPr/>
        </p:nvSpPr>
        <p:spPr>
          <a:xfrm>
            <a:off x="12280900" y="41910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diferenças</a:t>
            </a:r>
            <a:endParaRPr lang="en-US" sz="1900" dirty="0"/>
          </a:p>
        </p:txBody>
      </p:sp>
      <p:sp>
        <p:nvSpPr>
          <p:cNvPr id="24" name="results-note-4"/>
          <p:cNvSpPr/>
          <p:nvPr/>
        </p:nvSpPr>
        <p:spPr>
          <a:xfrm>
            <a:off x="12280900" y="4699000"/>
            <a:ext cx="241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 lacunas</a:t>
            </a:r>
            <a:endParaRPr lang="en-US" sz="1400" dirty="0"/>
          </a:p>
        </p:txBody>
      </p:sp>
      <p:sp>
        <p:nvSpPr>
          <p:cNvPr id="25" name="results-examples"/>
          <p:cNvSpPr/>
          <p:nvPr/>
        </p:nvSpPr>
        <p:spPr>
          <a:xfrm>
            <a:off x="762000" y="6350000"/>
            <a:ext cx="14732000" cy="1270000"/>
          </a:xfrm>
          <a:prstGeom prst="rect">
            <a:avLst/>
          </a:prstGeom>
          <a:solidFill>
            <a:srgbClr val="111E3A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26" name="results-examples-title"/>
          <p:cNvSpPr/>
          <p:nvPr/>
        </p:nvSpPr>
        <p:spPr>
          <a:xfrm>
            <a:off x="1066800" y="6604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FB7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EXEMPLOS VALIDADOS</a:t>
            </a:r>
            <a:endParaRPr lang="en-US" sz="1400" dirty="0"/>
          </a:p>
        </p:txBody>
      </p:sp>
      <p:sp>
        <p:nvSpPr>
          <p:cNvPr id="27" name="results-examples-body"/>
          <p:cNvSpPr/>
          <p:nvPr/>
        </p:nvSpPr>
        <p:spPr>
          <a:xfrm>
            <a:off x="1066800" y="7035800"/>
            <a:ext cx="1346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R$ 10 mi vs. R$ 15 mi · R$ 50 mil vs. R$ 100 mil · 24 vs. 36 meses</a:t>
            </a:r>
            <a:endParaRPr lang="en-US" sz="1900" dirty="0"/>
          </a:p>
        </p:txBody>
      </p:sp>
      <p:sp>
        <p:nvSpPr>
          <p:cNvPr id="28" name="results-footer-page"/>
          <p:cNvSpPr/>
          <p:nvPr/>
        </p:nvSpPr>
        <p:spPr>
          <a:xfrm>
            <a:off x="762000" y="86614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400" dirty="0"/>
          </a:p>
        </p:txBody>
      </p:sp>
      <p:sp>
        <p:nvSpPr>
          <p:cNvPr id="29" name="results-footer-tag"/>
          <p:cNvSpPr/>
          <p:nvPr/>
        </p:nvSpPr>
        <p:spPr>
          <a:xfrm>
            <a:off x="13716000" y="86614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INSURMINDS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mits-title-line"/>
          <p:cNvSpPr/>
          <p:nvPr/>
        </p:nvSpPr>
        <p:spPr>
          <a:xfrm>
            <a:off x="762000" y="533400"/>
            <a:ext cx="1905000" cy="9144"/>
          </a:xfrm>
          <a:prstGeom prst="line">
            <a:avLst/>
          </a:prstGeom>
          <a:ln w="50800">
            <a:solidFill>
              <a:srgbClr val="FFB703"/>
            </a:solidFill>
            <a:prstDash val="solid"/>
          </a:ln>
        </p:spPr>
      </p:sp>
      <p:sp>
        <p:nvSpPr>
          <p:cNvPr id="3" name="limits-title"/>
          <p:cNvSpPr/>
          <p:nvPr/>
        </p:nvSpPr>
        <p:spPr>
          <a:xfrm>
            <a:off x="762000" y="736600"/>
            <a:ext cx="10414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Limites e evolução</a:t>
            </a:r>
            <a:endParaRPr lang="en-US" sz="3400" dirty="0"/>
          </a:p>
        </p:txBody>
      </p:sp>
      <p:sp>
        <p:nvSpPr>
          <p:cNvPr id="4" name="limits-lead"/>
          <p:cNvSpPr/>
          <p:nvPr/>
        </p:nvSpPr>
        <p:spPr>
          <a:xfrm>
            <a:off x="762000" y="1651000"/>
            <a:ext cx="1397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MVP confiável explicita o que sabe, o que não sabe e para onde pode crescer.</a:t>
            </a:r>
            <a:endParaRPr lang="en-US" sz="2100" dirty="0"/>
          </a:p>
        </p:txBody>
      </p:sp>
      <p:sp>
        <p:nvSpPr>
          <p:cNvPr id="5" name="limits-card"/>
          <p:cNvSpPr/>
          <p:nvPr/>
        </p:nvSpPr>
        <p:spPr>
          <a:xfrm>
            <a:off x="762000" y="2349500"/>
            <a:ext cx="6858000" cy="3810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pic>
        <p:nvPicPr>
          <p:cNvPr id="6" name="limits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2768600"/>
            <a:ext cx="457200" cy="457200"/>
          </a:xfrm>
          <a:prstGeom prst="rect">
            <a:avLst/>
          </a:prstGeom>
        </p:spPr>
      </p:pic>
      <p:sp>
        <p:nvSpPr>
          <p:cNvPr id="7" name="limits-card-title"/>
          <p:cNvSpPr/>
          <p:nvPr/>
        </p:nvSpPr>
        <p:spPr>
          <a:xfrm>
            <a:off x="1752600" y="2794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Limites atuais</a:t>
            </a:r>
            <a:endParaRPr lang="en-US" sz="2300" dirty="0"/>
          </a:p>
        </p:txBody>
      </p:sp>
      <p:sp>
        <p:nvSpPr>
          <p:cNvPr id="8" name="limits-card-body"/>
          <p:cNvSpPr/>
          <p:nvPr/>
        </p:nvSpPr>
        <p:spPr>
          <a:xfrm>
            <a:off x="1143000" y="3632200"/>
            <a:ext cx="584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Corpus sintético e autoral.</a:t>
            </a:r>
            <a:endParaRPr lang="en-US" sz="1800" dirty="0"/>
          </a:p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substitui parecer jurídico ou subscrição.</a:t>
            </a:r>
            <a:endParaRPr lang="en-US" sz="1800" dirty="0"/>
          </a:p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 pode exigir revisão em tabelas e números.</a:t>
            </a:r>
            <a:endParaRPr lang="en-US" sz="1800" dirty="0"/>
          </a:p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cobre um conjunto delimitado de campos.</a:t>
            </a:r>
            <a:endParaRPr lang="en-US" sz="1800" dirty="0"/>
          </a:p>
        </p:txBody>
      </p:sp>
      <p:sp>
        <p:nvSpPr>
          <p:cNvPr id="9" name="limits-roadmap"/>
          <p:cNvSpPr/>
          <p:nvPr/>
        </p:nvSpPr>
        <p:spPr>
          <a:xfrm>
            <a:off x="8382000" y="2349500"/>
            <a:ext cx="6858000" cy="3810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pic>
        <p:nvPicPr>
          <p:cNvPr id="10" name="limits-roadmap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0" y="2768600"/>
            <a:ext cx="457200" cy="457200"/>
          </a:xfrm>
          <a:prstGeom prst="rect">
            <a:avLst/>
          </a:prstGeom>
        </p:spPr>
      </p:pic>
      <p:sp>
        <p:nvSpPr>
          <p:cNvPr id="11" name="limits-roadmap-title"/>
          <p:cNvSpPr/>
          <p:nvPr/>
        </p:nvSpPr>
        <p:spPr>
          <a:xfrm>
            <a:off x="9372600" y="2794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Próximas camadas</a:t>
            </a:r>
            <a:endParaRPr lang="en-US" sz="2300" dirty="0"/>
          </a:p>
        </p:txBody>
      </p:sp>
      <p:sp>
        <p:nvSpPr>
          <p:cNvPr id="12" name="limits-roadmap-body"/>
          <p:cNvSpPr/>
          <p:nvPr/>
        </p:nvSpPr>
        <p:spPr>
          <a:xfrm>
            <a:off x="8763000" y="3632200"/>
            <a:ext cx="584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 humana e correção dos fatos.</a:t>
            </a:r>
            <a:endParaRPr lang="en-US" sz="1800" dirty="0"/>
          </a:p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Múltiplas versões da mesma apólice.</a:t>
            </a:r>
            <a:endParaRPr lang="en-US" sz="1800" dirty="0"/>
          </a:p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Recuperação contextual por cláusula.</a:t>
            </a:r>
            <a:endParaRPr lang="en-US" sz="1800" dirty="0"/>
          </a:p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 comparativo exportável.</a:t>
            </a:r>
            <a:endParaRPr lang="en-US" sz="1800" dirty="0"/>
          </a:p>
        </p:txBody>
      </p:sp>
      <p:sp>
        <p:nvSpPr>
          <p:cNvPr id="13" name="limits-bottom"/>
          <p:cNvSpPr/>
          <p:nvPr/>
        </p:nvSpPr>
        <p:spPr>
          <a:xfrm>
            <a:off x="762000" y="6921500"/>
            <a:ext cx="14478000" cy="787400"/>
          </a:xfrm>
          <a:prstGeom prst="rect">
            <a:avLst/>
          </a:prstGeom>
          <a:solidFill>
            <a:srgbClr val="111E3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limits-bottom-text"/>
          <p:cNvSpPr/>
          <p:nvPr/>
        </p:nvSpPr>
        <p:spPr>
          <a:xfrm>
            <a:off x="1066800" y="7150100"/>
            <a:ext cx="137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tecnologia acelera a localização; a responsabilidade profissional continua humana.</a:t>
            </a:r>
            <a:endParaRPr lang="en-US" sz="1900" dirty="0"/>
          </a:p>
        </p:txBody>
      </p:sp>
      <p:sp>
        <p:nvSpPr>
          <p:cNvPr id="15" name="limits-footer-page"/>
          <p:cNvSpPr/>
          <p:nvPr/>
        </p:nvSpPr>
        <p:spPr>
          <a:xfrm>
            <a:off x="762000" y="86614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400" dirty="0"/>
          </a:p>
        </p:txBody>
      </p:sp>
      <p:sp>
        <p:nvSpPr>
          <p:cNvPr id="16" name="limits-footer-tag"/>
          <p:cNvSpPr/>
          <p:nvPr/>
        </p:nvSpPr>
        <p:spPr>
          <a:xfrm>
            <a:off x="13716000" y="86614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INSURMINDS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-title-line"/>
          <p:cNvSpPr/>
          <p:nvPr/>
        </p:nvSpPr>
        <p:spPr>
          <a:xfrm>
            <a:off x="1016000" y="1905000"/>
            <a:ext cx="2159000" cy="9144"/>
          </a:xfrm>
          <a:prstGeom prst="line">
            <a:avLst/>
          </a:prstGeom>
          <a:ln w="50800">
            <a:solidFill>
              <a:srgbClr val="FFB703"/>
            </a:solidFill>
            <a:prstDash val="solid"/>
          </a:ln>
        </p:spPr>
      </p:sp>
      <p:sp>
        <p:nvSpPr>
          <p:cNvPr id="3" name="closing-kicker"/>
          <p:cNvSpPr/>
          <p:nvPr/>
        </p:nvSpPr>
        <p:spPr>
          <a:xfrm>
            <a:off x="1016000" y="11684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FINAL · INSURMINDS</a:t>
            </a:r>
            <a:endParaRPr lang="en-US" sz="1500" dirty="0"/>
          </a:p>
        </p:txBody>
      </p:sp>
      <p:sp>
        <p:nvSpPr>
          <p:cNvPr id="4" name="closing-title"/>
          <p:cNvSpPr/>
          <p:nvPr/>
        </p:nvSpPr>
        <p:spPr>
          <a:xfrm>
            <a:off x="1016000" y="2413000"/>
            <a:ext cx="812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Uma camada de inteligência documental para transformar leitura em decisão revisável.</a:t>
            </a:r>
            <a:endParaRPr lang="en-US" sz="4400" dirty="0"/>
          </a:p>
        </p:txBody>
      </p:sp>
      <p:sp>
        <p:nvSpPr>
          <p:cNvPr id="5" name="closing-signature"/>
          <p:cNvSpPr/>
          <p:nvPr/>
        </p:nvSpPr>
        <p:spPr>
          <a:xfrm>
            <a:off x="1016000" y="5461000"/>
            <a:ext cx="787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FB70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para localizar. Especialista para decidir.</a:t>
            </a:r>
            <a:endParaRPr lang="en-US" sz="2200" dirty="0"/>
          </a:p>
        </p:txBody>
      </p:sp>
      <p:sp>
        <p:nvSpPr>
          <p:cNvPr id="6" name="closing-delivery"/>
          <p:cNvSpPr/>
          <p:nvPr/>
        </p:nvSpPr>
        <p:spPr>
          <a:xfrm>
            <a:off x="9906000" y="2032000"/>
            <a:ext cx="5207000" cy="4191000"/>
          </a:xfrm>
          <a:prstGeom prst="rect">
            <a:avLst/>
          </a:prstGeom>
          <a:solidFill>
            <a:srgbClr val="1C2541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7" name="closing-delivery-top"/>
          <p:cNvSpPr/>
          <p:nvPr/>
        </p:nvSpPr>
        <p:spPr>
          <a:xfrm>
            <a:off x="9906000" y="2032000"/>
            <a:ext cx="5207000" cy="508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8" name="closing-delivery-title"/>
          <p:cNvSpPr/>
          <p:nvPr/>
        </p:nvSpPr>
        <p:spPr>
          <a:xfrm>
            <a:off x="10312400" y="24638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FFB70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Pacote entregue</a:t>
            </a:r>
            <a:endParaRPr lang="en-US" sz="2300" dirty="0"/>
          </a:p>
        </p:txBody>
      </p:sp>
      <p:sp>
        <p:nvSpPr>
          <p:cNvPr id="9" name="closing-delivery-list"/>
          <p:cNvSpPr/>
          <p:nvPr/>
        </p:nvSpPr>
        <p:spPr>
          <a:xfrm>
            <a:off x="10312400" y="31750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Streamlit</a:t>
            </a:r>
            <a:endParaRPr lang="en-US" sz="1800" dirty="0"/>
          </a:p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 técnico PDF</a:t>
            </a:r>
            <a:endParaRPr lang="en-US" sz="1800" dirty="0"/>
          </a:p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Código, testes e evidências</a:t>
            </a:r>
            <a:endParaRPr lang="en-US" sz="1800" dirty="0"/>
          </a:p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e vídeo</a:t>
            </a:r>
            <a:endParaRPr lang="en-US" sz="1800" dirty="0"/>
          </a:p>
          <a:p>
            <a:pPr algn="l" marL="285750" indent="-285750"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README e licença MIT</a:t>
            </a:r>
            <a:endParaRPr lang="en-US" sz="1800" dirty="0"/>
          </a:p>
        </p:txBody>
      </p:sp>
      <p:sp>
        <p:nvSpPr>
          <p:cNvPr id="10" name="closing-footer-page"/>
          <p:cNvSpPr/>
          <p:nvPr/>
        </p:nvSpPr>
        <p:spPr>
          <a:xfrm>
            <a:off x="762000" y="86614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11" name="closing-footer-tag"/>
          <p:cNvSpPr/>
          <p:nvPr/>
        </p:nvSpPr>
        <p:spPr>
          <a:xfrm>
            <a:off x="13716000" y="86614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A0C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INSURMINDS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D&amp;O Policy Intelligence — Projeto Final InsurMinds</dc:title>
  <dc:subject>D&amp;O Policy Intelligence — Projeto Final InsurMinds</dc:subject>
  <dc:creator>Manus</dc:creator>
  <cp:lastModifiedBy>Manus</cp:lastModifiedBy>
  <cp:revision>1</cp:revision>
  <dcterms:created xsi:type="dcterms:W3CDTF">2026-08-19T12:07:36Z</dcterms:created>
  <dcterms:modified xsi:type="dcterms:W3CDTF">2026-08-19T12:07:36Z</dcterms:modified>
</cp:coreProperties>
</file>